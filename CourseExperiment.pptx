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387" r:id="rId3"/>
    <p:sldId id="397" r:id="rId4"/>
    <p:sldId id="482" r:id="rId5"/>
    <p:sldId id="484" r:id="rId6"/>
    <p:sldId id="485" r:id="rId7"/>
    <p:sldId id="475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51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838"/>
    <a:srgbClr val="FFC6C6"/>
    <a:srgbClr val="509700"/>
    <a:srgbClr val="4F007A"/>
    <a:srgbClr val="640200"/>
    <a:srgbClr val="6A0200"/>
    <a:srgbClr val="740200"/>
    <a:srgbClr val="8B0200"/>
    <a:srgbClr val="8A050A"/>
    <a:srgbClr val="6A0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7" autoAdjust="0"/>
    <p:restoredTop sz="76584" autoAdjust="0"/>
  </p:normalViewPr>
  <p:slideViewPr>
    <p:cSldViewPr snapToGrid="0" snapToObjects="1">
      <p:cViewPr varScale="1">
        <p:scale>
          <a:sx n="127" d="100"/>
          <a:sy n="127" d="100"/>
        </p:scale>
        <p:origin x="1480" y="176"/>
      </p:cViewPr>
      <p:guideLst>
        <p:guide orient="horz" pos="2096"/>
        <p:guide pos="5103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83E6D-949E-DB49-8D82-4659293456DC}" type="datetime1">
              <a:rPr lang="en-US" altLang="zh-CN" smtClean="0"/>
              <a:t>11/17/25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C689C-233B-C74F-8F81-1C822BD9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A9A8D-C31C-DE42-9783-70FE07D82B5E}" type="datetime1">
              <a:rPr lang="en-US" altLang="zh-CN" smtClean="0"/>
              <a:t>11/17/25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DB995-D54A-4E4F-9902-6679D32FD4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FF36-320A-381C-447E-1E53C2903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408F5D-C09A-4B0E-662E-2CD30CBBF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D09C40-7BBB-B3BF-1E13-4CDB74EC7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940C15-FD67-19D1-B062-473CCA8D3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3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D207-E5B1-1FF2-AEA8-526C36FF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5D9A84-3A47-7DDF-AA61-3EC1E226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D408D2-7B90-F0ED-EE0D-3D452444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6DAC0-B2C3-83A6-B314-A876CC5C1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8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D207-E5B1-1FF2-AEA8-526C36FF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5D9A84-3A47-7DDF-AA61-3EC1E226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D408D2-7B90-F0ED-EE0D-3D452444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6DAC0-B2C3-83A6-B314-A876CC5C1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2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D207-E5B1-1FF2-AEA8-526C36FF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5D9A84-3A47-7DDF-AA61-3EC1E226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D408D2-7B90-F0ED-EE0D-3D452444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6DAC0-B2C3-83A6-B314-A876CC5C1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22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D207-E5B1-1FF2-AEA8-526C36FF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5D9A84-3A47-7DDF-AA61-3EC1E226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D408D2-7B90-F0ED-EE0D-3D452444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6DAC0-B2C3-83A6-B314-A876CC5C1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27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D207-E5B1-1FF2-AEA8-526C36FF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5D9A84-3A47-7DDF-AA61-3EC1E2265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D408D2-7B90-F0ED-EE0D-3D452444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6DAC0-B2C3-83A6-B314-A876CC5C1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DB995-D54A-4E4F-9902-6679D32FD4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0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 userDrawn="1"/>
        </p:nvGrpSpPr>
        <p:grpSpPr>
          <a:xfrm>
            <a:off x="0" y="4756638"/>
            <a:ext cx="9144000" cy="386862"/>
            <a:chOff x="0" y="4756638"/>
            <a:chExt cx="9144000" cy="386862"/>
          </a:xfrm>
        </p:grpSpPr>
        <p:sp>
          <p:nvSpPr>
            <p:cNvPr id="8" name="矩形 7"/>
            <p:cNvSpPr/>
            <p:nvPr/>
          </p:nvSpPr>
          <p:spPr>
            <a:xfrm>
              <a:off x="0" y="4756638"/>
              <a:ext cx="9144000" cy="386862"/>
            </a:xfrm>
            <a:prstGeom prst="rect">
              <a:avLst/>
            </a:prstGeom>
            <a:solidFill>
              <a:srgbClr val="8A05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图片 8" descr="logo_01.png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5483" y="4785617"/>
              <a:ext cx="1620570" cy="340120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4785648"/>
            <a:ext cx="457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黑体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9400" y="838486"/>
            <a:ext cx="9567130" cy="1442854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altLang="zh-CN" sz="4900" dirty="0">
                <a:ea typeface="Cambria" panose="02040503050406030204" pitchFamily="18" charset="0"/>
                <a:cs typeface="Times" panose="00000500000000020000" pitchFamily="18" charset="0"/>
              </a:rPr>
              <a:t>Intelligent Computer Architecture</a:t>
            </a:r>
            <a:br>
              <a:rPr lang="en-US" altLang="zh-CN" sz="4000" dirty="0">
                <a:ea typeface="Microsoft YaHei" panose="020B0503020204020204" pitchFamily="34" charset="-122"/>
                <a:cs typeface="Times" panose="00000500000000020000" pitchFamily="18" charset="0"/>
              </a:rPr>
            </a:br>
            <a:r>
              <a:rPr lang="en-US" altLang="zh-CN" sz="3100" dirty="0">
                <a:ea typeface="Microsoft YaHei" panose="020B0503020204020204" pitchFamily="34" charset="-122"/>
              </a:rPr>
              <a:t>Course Experiment</a:t>
            </a:r>
            <a:r>
              <a:rPr lang="zh-CN" altLang="en-US" sz="3100" dirty="0">
                <a:ea typeface="Microsoft YaHei" panose="020B0503020204020204" pitchFamily="34" charset="-122"/>
              </a:rPr>
              <a:t> </a:t>
            </a:r>
            <a:r>
              <a:rPr lang="en-US" altLang="zh-CN" sz="3100" dirty="0">
                <a:ea typeface="Microsoft YaHei" panose="020B0503020204020204" pitchFamily="34" charset="-122"/>
              </a:rPr>
              <a:t>- </a:t>
            </a:r>
            <a:r>
              <a:rPr lang="en-US" altLang="en-US" sz="3200" dirty="0"/>
              <a:t>Triton Conv2D Kernel</a:t>
            </a:r>
            <a:br>
              <a:rPr lang="en-US" altLang="zh-CN" sz="3100" b="1" dirty="0">
                <a:ea typeface="Microsoft YaHei" panose="020B0503020204020204" pitchFamily="34" charset="-122"/>
                <a:cs typeface="黑体" charset="0"/>
              </a:rPr>
            </a:br>
            <a:endParaRPr lang="zh-CN" altLang="en-US" sz="2200" b="1" dirty="0">
              <a:ea typeface="Microsoft YaHei" panose="020B0503020204020204" pitchFamily="34" charset="-122"/>
              <a:cs typeface="黑体" charset="0"/>
            </a:endParaRPr>
          </a:p>
        </p:txBody>
      </p:sp>
      <p:grpSp>
        <p:nvGrpSpPr>
          <p:cNvPr id="9" name="组 8"/>
          <p:cNvGrpSpPr/>
          <p:nvPr/>
        </p:nvGrpSpPr>
        <p:grpSpPr>
          <a:xfrm>
            <a:off x="0" y="4756638"/>
            <a:ext cx="9144000" cy="386862"/>
            <a:chOff x="0" y="4756638"/>
            <a:chExt cx="9144000" cy="386862"/>
          </a:xfrm>
        </p:grpSpPr>
        <p:sp>
          <p:nvSpPr>
            <p:cNvPr id="7" name="矩形 6"/>
            <p:cNvSpPr/>
            <p:nvPr/>
          </p:nvSpPr>
          <p:spPr>
            <a:xfrm>
              <a:off x="0" y="4756638"/>
              <a:ext cx="9144000" cy="386862"/>
            </a:xfrm>
            <a:prstGeom prst="rect">
              <a:avLst/>
            </a:prstGeom>
            <a:solidFill>
              <a:srgbClr val="8A05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图片 7" descr="logo_01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5483" y="4785617"/>
              <a:ext cx="1620570" cy="3401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00D2-D03B-0B7E-318F-8B874F53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9F138-E7F0-A4B1-FA67-68E47666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17" y="175449"/>
            <a:ext cx="8229600" cy="857250"/>
          </a:xfrm>
        </p:spPr>
        <p:txBody>
          <a:bodyPr>
            <a:normAutofit/>
          </a:bodyPr>
          <a:lstStyle/>
          <a:p>
            <a:r>
              <a:rPr lang="en-US" sz="3200" dirty="0"/>
              <a:t>Introduction</a:t>
            </a: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C703711F-3744-3C9C-2494-9582A45B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BEA8DE-A751-F9BD-0747-A43EA7333818}"/>
              </a:ext>
            </a:extLst>
          </p:cNvPr>
          <p:cNvSpPr txBox="1"/>
          <p:nvPr/>
        </p:nvSpPr>
        <p:spPr>
          <a:xfrm>
            <a:off x="302216" y="999996"/>
            <a:ext cx="87401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In this experiment, we will implement a custom </a:t>
            </a:r>
            <a:r>
              <a:rPr lang="en" altLang="zh-CN" sz="2800" b="1" dirty="0"/>
              <a:t>2D convolution kernel</a:t>
            </a:r>
            <a:r>
              <a:rPr lang="en" altLang="zh-CN" sz="2800" dirty="0"/>
              <a:t> using Triton, and compare the results with </a:t>
            </a:r>
            <a:r>
              <a:rPr lang="en" altLang="zh-CN" sz="2800" dirty="0" err="1"/>
              <a:t>PyTorch’s</a:t>
            </a:r>
            <a:r>
              <a:rPr lang="en" altLang="zh-CN" sz="2800" dirty="0"/>
              <a:t> built-in Conv2d.</a:t>
            </a:r>
          </a:p>
        </p:txBody>
      </p:sp>
    </p:spTree>
    <p:extLst>
      <p:ext uri="{BB962C8B-B14F-4D97-AF65-F5344CB8AC3E}">
        <p14:creationId xmlns:p14="http://schemas.microsoft.com/office/powerpoint/2010/main" val="145314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CBC9-2044-3455-0803-E60D546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DAC0B-5F9F-D000-A035-40E742A0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2</a:t>
            </a:fld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254D6C6-C9E7-FC42-E795-E1014B777449}"/>
              </a:ext>
            </a:extLst>
          </p:cNvPr>
          <p:cNvSpPr txBox="1">
            <a:spLocks/>
          </p:cNvSpPr>
          <p:nvPr/>
        </p:nvSpPr>
        <p:spPr>
          <a:xfrm>
            <a:off x="228600" y="8400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黑体"/>
                <a:cs typeface="+mj-cs"/>
              </a:defRPr>
            </a:lvl1pPr>
          </a:lstStyle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3200" b="0" i="0" dirty="0">
                <a:solidFill>
                  <a:srgbClr val="2C2C36"/>
                </a:solidFill>
                <a:effectLst/>
                <a:latin typeface="+mn-lt"/>
              </a:rPr>
              <a:t>Triton</a:t>
            </a:r>
            <a:endParaRPr lang="en" altLang="zh-CN" sz="3200" b="0" i="0" dirty="0">
              <a:solidFill>
                <a:srgbClr val="2C2C36"/>
              </a:solidFill>
              <a:effectLst/>
              <a:latin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A5A09A-C4CF-4F1D-D628-7CF76FD0B026}"/>
              </a:ext>
            </a:extLst>
          </p:cNvPr>
          <p:cNvSpPr txBox="1"/>
          <p:nvPr/>
        </p:nvSpPr>
        <p:spPr>
          <a:xfrm>
            <a:off x="228600" y="941258"/>
            <a:ext cx="85666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400" b="1" dirty="0"/>
              <a:t>Why Triton?</a:t>
            </a:r>
            <a:endParaRPr lang="en" altLang="zh-CN" sz="2400" dirty="0"/>
          </a:p>
          <a:p>
            <a:pPr marL="342900" indent="-342900">
              <a:buFont typeface="Wingdings" pitchFamily="2" charset="2"/>
              <a:buChar char="l"/>
            </a:pPr>
            <a:r>
              <a:rPr lang="en" altLang="zh-CN" sz="2400" dirty="0"/>
              <a:t>Write high-performance GPU/MLU kernels entirely in </a:t>
            </a:r>
            <a:r>
              <a:rPr lang="en" altLang="zh-CN" sz="2400" dirty="0">
                <a:solidFill>
                  <a:srgbClr val="FF0000"/>
                </a:solidFill>
              </a:rPr>
              <a:t>Python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en" altLang="zh-CN" sz="2400" dirty="0"/>
              <a:t>Fine control over memory access and parallelism for optimization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en" altLang="zh-CN" sz="2400" dirty="0"/>
              <a:t>Simpler than CUDA</a:t>
            </a:r>
            <a:r>
              <a:rPr lang="en-US" altLang="zh-CN" sz="2400" dirty="0"/>
              <a:t>/BANG</a:t>
            </a:r>
            <a:r>
              <a:rPr lang="en" altLang="zh-CN" sz="2400" dirty="0"/>
              <a:t> while achieving comparable performance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en" altLang="zh-CN" sz="2400" dirty="0"/>
              <a:t>Ideal for custom operator development and fast experimentation</a:t>
            </a:r>
          </a:p>
          <a:p>
            <a:pPr>
              <a:buFont typeface="Arial" panose="020B0604020202020204" pitchFamily="34" charset="0"/>
              <a:buChar char="•"/>
            </a:pPr>
            <a:endParaRPr lang="e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80006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CBC9-2044-3455-0803-E60D546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DAC0B-5F9F-D000-A035-40E742A0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3</a:t>
            </a:fld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254D6C6-C9E7-FC42-E795-E1014B777449}"/>
              </a:ext>
            </a:extLst>
          </p:cNvPr>
          <p:cNvSpPr txBox="1">
            <a:spLocks/>
          </p:cNvSpPr>
          <p:nvPr/>
        </p:nvSpPr>
        <p:spPr>
          <a:xfrm>
            <a:off x="74124" y="8400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黑体"/>
                <a:cs typeface="+mj-cs"/>
              </a:defRPr>
            </a:lvl1pPr>
          </a:lstStyle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3200" b="0" dirty="0">
                <a:solidFill>
                  <a:srgbClr val="2C2C36"/>
                </a:solidFill>
                <a:latin typeface="+mn-lt"/>
                <a:ea typeface="黑体"/>
                <a:sym typeface="Verdana" pitchFamily="34" charset="0"/>
              </a:rPr>
              <a:t>Environment</a:t>
            </a:r>
            <a:endParaRPr lang="en" altLang="zh-CN" sz="3200" b="0" i="0" dirty="0">
              <a:solidFill>
                <a:srgbClr val="2C2C36"/>
              </a:solidFill>
              <a:effectLst/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962D11-752C-1E85-4A4E-927EAFD2734D}"/>
              </a:ext>
            </a:extLst>
          </p:cNvPr>
          <p:cNvSpPr txBox="1"/>
          <p:nvPr/>
        </p:nvSpPr>
        <p:spPr>
          <a:xfrm>
            <a:off x="157484" y="1109127"/>
            <a:ext cx="8146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2400" b="1" dirty="0">
                <a:effectLst/>
              </a:rPr>
              <a:t>Hardware Platform:</a:t>
            </a:r>
            <a:r>
              <a:rPr lang="en" altLang="zh-CN" sz="2400" dirty="0">
                <a:effectLst/>
              </a:rPr>
              <a:t> DLP Cloud Platform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2400" b="1" dirty="0"/>
              <a:t>OS Image:</a:t>
            </a:r>
            <a:r>
              <a:rPr lang="en" altLang="zh-CN" sz="2400" dirty="0"/>
              <a:t> </a:t>
            </a:r>
            <a:r>
              <a:rPr lang="en" altLang="zh-CN" sz="2400" dirty="0">
                <a:solidFill>
                  <a:srgbClr val="FF0000"/>
                </a:solidFill>
              </a:rPr>
              <a:t>mlu370_ubuntu22.04-for-student:v8_ds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2400" b="1" dirty="0"/>
              <a:t>Software Tools:</a:t>
            </a:r>
            <a:endParaRPr lang="en" altLang="zh-CN" sz="2400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en" altLang="zh-CN" sz="2400" dirty="0" err="1"/>
              <a:t>PyTorch</a:t>
            </a:r>
            <a:r>
              <a:rPr lang="en" altLang="zh-CN" sz="2400" dirty="0"/>
              <a:t> 2.5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" altLang="zh-CN" sz="2400" dirty="0"/>
              <a:t>Triton 3.0.0</a:t>
            </a:r>
          </a:p>
          <a:p>
            <a:r>
              <a:rPr lang="en" altLang="zh-CN" sz="2400" dirty="0"/>
              <a:t>Environment  already</a:t>
            </a:r>
            <a:r>
              <a:rPr lang="zh-CN" altLang="en-US" sz="2400" dirty="0"/>
              <a:t> </a:t>
            </a:r>
            <a:r>
              <a:rPr lang="en" altLang="zh-CN" sz="2400" dirty="0"/>
              <a:t>prepared by the platform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altLang="zh-CN" dirty="0">
              <a:effectLst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294107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CBC9-2044-3455-0803-E60D546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DAC0B-5F9F-D000-A035-40E742A0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4</a:t>
            </a:fld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254D6C6-C9E7-FC42-E795-E1014B777449}"/>
              </a:ext>
            </a:extLst>
          </p:cNvPr>
          <p:cNvSpPr txBox="1">
            <a:spLocks/>
          </p:cNvSpPr>
          <p:nvPr/>
        </p:nvSpPr>
        <p:spPr>
          <a:xfrm>
            <a:off x="74124" y="8400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黑体"/>
                <a:cs typeface="+mj-cs"/>
              </a:defRPr>
            </a:lvl1pPr>
          </a:lstStyle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3200" b="0" dirty="0">
                <a:solidFill>
                  <a:srgbClr val="2C2C36"/>
                </a:solidFill>
                <a:latin typeface="+mn-lt"/>
                <a:ea typeface="黑体"/>
                <a:sym typeface="Verdana" pitchFamily="34" charset="0"/>
              </a:rPr>
              <a:t>Code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962D11-752C-1E85-4A4E-927EAFD2734D}"/>
              </a:ext>
            </a:extLst>
          </p:cNvPr>
          <p:cNvSpPr txBox="1"/>
          <p:nvPr/>
        </p:nvSpPr>
        <p:spPr>
          <a:xfrm>
            <a:off x="157484" y="1109127"/>
            <a:ext cx="814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conv2d_template.py</a:t>
            </a:r>
            <a:endParaRPr lang="en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767D13-CBEE-8098-6DD7-85B4C1C5AB47}"/>
              </a:ext>
            </a:extLst>
          </p:cNvPr>
          <p:cNvSpPr txBox="1"/>
          <p:nvPr/>
        </p:nvSpPr>
        <p:spPr>
          <a:xfrm>
            <a:off x="228600" y="1910716"/>
            <a:ext cx="8075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" altLang="zh-CN" sz="2400" b="1" dirty="0"/>
              <a:t>conv2d_kernel()</a:t>
            </a:r>
            <a:r>
              <a:rPr lang="en" altLang="zh-CN" sz="2400" dirty="0"/>
              <a:t>: Performs the Conv2D computation on the device.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en" altLang="zh-CN" sz="2400" b="1" dirty="0"/>
              <a:t>conv2d_triton()</a:t>
            </a:r>
            <a:r>
              <a:rPr lang="en" altLang="zh-CN" sz="2400" dirty="0"/>
              <a:t>:</a:t>
            </a:r>
            <a:r>
              <a:rPr lang="zh-CN" altLang="en-US" sz="2400" dirty="0"/>
              <a:t> </a:t>
            </a:r>
            <a:r>
              <a:rPr lang="en" altLang="zh-CN" sz="2400" dirty="0"/>
              <a:t>Python wrapper that configures and launches the Triton Conv2D kernel.</a:t>
            </a:r>
          </a:p>
        </p:txBody>
      </p:sp>
    </p:spTree>
    <p:extLst>
      <p:ext uri="{BB962C8B-B14F-4D97-AF65-F5344CB8AC3E}">
        <p14:creationId xmlns:p14="http://schemas.microsoft.com/office/powerpoint/2010/main" val="350977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CBC9-2044-3455-0803-E60D546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DAC0B-5F9F-D000-A035-40E742A0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5</a:t>
            </a:fld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254D6C6-C9E7-FC42-E795-E1014B777449}"/>
              </a:ext>
            </a:extLst>
          </p:cNvPr>
          <p:cNvSpPr txBox="1">
            <a:spLocks/>
          </p:cNvSpPr>
          <p:nvPr/>
        </p:nvSpPr>
        <p:spPr>
          <a:xfrm>
            <a:off x="74124" y="8400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黑体"/>
                <a:cs typeface="+mj-cs"/>
              </a:defRPr>
            </a:lvl1pPr>
          </a:lstStyle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3200" b="0" dirty="0">
                <a:solidFill>
                  <a:srgbClr val="2C2C36"/>
                </a:solidFill>
                <a:latin typeface="+mn-lt"/>
                <a:ea typeface="黑体"/>
                <a:sym typeface="Verdana" pitchFamily="34" charset="0"/>
              </a:rPr>
              <a:t>Grading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767D13-CBEE-8098-6DD7-85B4C1C5AB47}"/>
              </a:ext>
            </a:extLst>
          </p:cNvPr>
          <p:cNvSpPr txBox="1"/>
          <p:nvPr/>
        </p:nvSpPr>
        <p:spPr>
          <a:xfrm>
            <a:off x="74124" y="924461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2400" b="1" dirty="0">
                <a:effectLst/>
              </a:rPr>
              <a:t>Correctness</a:t>
            </a:r>
            <a:r>
              <a:rPr lang="en" altLang="zh-CN" sz="2400" dirty="0">
                <a:effectLst/>
              </a:rPr>
              <a:t>: Outputs should match </a:t>
            </a:r>
            <a:r>
              <a:rPr lang="en" altLang="zh-CN" sz="2400" dirty="0" err="1">
                <a:effectLst/>
              </a:rPr>
              <a:t>PyTorch’s</a:t>
            </a:r>
            <a:r>
              <a:rPr lang="en" altLang="zh-CN" sz="2400" dirty="0">
                <a:effectLst/>
              </a:rPr>
              <a:t> Conv2d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2400" b="1" dirty="0">
                <a:effectLst/>
              </a:rPr>
              <a:t>Performance Analysis</a:t>
            </a:r>
            <a:r>
              <a:rPr lang="en" altLang="zh-CN" sz="2400" dirty="0">
                <a:effectLst/>
              </a:rPr>
              <a:t>: Higher performance and meaningful speedup will receive higher scores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zh-CN" sz="2400" b="1" dirty="0">
                <a:effectLst/>
              </a:rPr>
              <a:t>Conceptual Understanding</a:t>
            </a:r>
            <a:r>
              <a:rPr lang="en" altLang="zh-CN" sz="2400" dirty="0">
                <a:effectLst/>
              </a:rPr>
              <a:t>: Understanding of Triton kernel programming, grid configuration, and convolution computation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2566E1B-CB7A-5BFE-4DC2-8873C9F5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121" y="3209550"/>
            <a:ext cx="48641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4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CBC9-2044-3455-0803-E60D546E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DAC0B-5F9F-D000-A035-40E742A0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6</a:t>
            </a:fld>
            <a:endParaRPr 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254D6C6-C9E7-FC42-E795-E1014B777449}"/>
              </a:ext>
            </a:extLst>
          </p:cNvPr>
          <p:cNvSpPr txBox="1">
            <a:spLocks/>
          </p:cNvSpPr>
          <p:nvPr/>
        </p:nvSpPr>
        <p:spPr>
          <a:xfrm>
            <a:off x="74124" y="8400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黑体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dirty="0">
                <a:solidFill>
                  <a:srgbClr val="2C2C36"/>
                </a:solidFill>
                <a:latin typeface="+mn-lt"/>
                <a:ea typeface="黑体"/>
                <a:sym typeface="Verdana" pitchFamily="34" charset="0"/>
              </a:rPr>
              <a:t>Report</a:t>
            </a:r>
            <a:r>
              <a:rPr lang="zh-CN" altLang="en-US" sz="3200" dirty="0">
                <a:solidFill>
                  <a:srgbClr val="2C2C36"/>
                </a:solidFill>
                <a:latin typeface="+mn-lt"/>
                <a:ea typeface="黑体"/>
                <a:sym typeface="Verdana" pitchFamily="34" charset="0"/>
              </a:rPr>
              <a:t> </a:t>
            </a:r>
            <a:r>
              <a:rPr lang="en-US" altLang="zh-CN" sz="3200" dirty="0">
                <a:solidFill>
                  <a:srgbClr val="2C2C36"/>
                </a:solidFill>
                <a:latin typeface="+mn-lt"/>
                <a:ea typeface="黑体"/>
                <a:sym typeface="Verdana" pitchFamily="34" charset="0"/>
              </a:rPr>
              <a:t>Submit</a:t>
            </a:r>
            <a:endParaRPr lang="en" altLang="zh-CN" sz="3200" i="0" dirty="0">
              <a:solidFill>
                <a:srgbClr val="2C2C36"/>
              </a:solidFill>
              <a:effectLst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0B896B-8CD6-0BBD-3C3C-AAF4D5FA1A4F}"/>
              </a:ext>
            </a:extLst>
          </p:cNvPr>
          <p:cNvSpPr txBox="1"/>
          <p:nvPr/>
        </p:nvSpPr>
        <p:spPr>
          <a:xfrm>
            <a:off x="228599" y="1022298"/>
            <a:ext cx="77142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400" dirty="0"/>
              <a:t>The lab report should include both the report and the code.</a:t>
            </a:r>
            <a:br>
              <a:rPr lang="en" altLang="zh-CN" sz="2400" dirty="0"/>
            </a:br>
            <a:r>
              <a:rPr lang="en" altLang="zh-CN" sz="2400" dirty="0"/>
              <a:t>The deadline is </a:t>
            </a:r>
            <a:r>
              <a:rPr lang="en" altLang="zh-CN" sz="2400" b="1" dirty="0"/>
              <a:t>10:00 p.m. this Sunday</a:t>
            </a:r>
            <a:r>
              <a:rPr lang="en" altLang="zh-CN" sz="2400" dirty="0"/>
              <a:t>.</a:t>
            </a:r>
            <a:r>
              <a:rPr lang="zh-CN" altLang="en-US" sz="2400" dirty="0"/>
              <a:t> </a:t>
            </a:r>
            <a:r>
              <a:rPr lang="en-US" altLang="zh-CN" sz="2400" dirty="0"/>
              <a:t>23 Nov</a:t>
            </a:r>
          </a:p>
          <a:p>
            <a:endParaRPr lang="en-US" altLang="zh-CN" sz="2400" dirty="0"/>
          </a:p>
          <a:p>
            <a:r>
              <a:rPr lang="en" altLang="zh-CN" sz="2400" dirty="0"/>
              <a:t>The submission will be done through a form, and the link will be sent to the WeChat group later.</a:t>
            </a:r>
          </a:p>
          <a:p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423643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14420</TotalTime>
  <Words>235</Words>
  <Application>Microsoft Macintosh PowerPoint</Application>
  <PresentationFormat>全屏显示(16:9)</PresentationFormat>
  <Paragraphs>41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Intelligent Computer Architecture Course Experiment - Triton Conv2D Kernel </vt:lpstr>
      <vt:lpstr>Introduction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denghaodong</cp:lastModifiedBy>
  <cp:revision>642</cp:revision>
  <dcterms:created xsi:type="dcterms:W3CDTF">2022-08-28T02:47:50Z</dcterms:created>
  <dcterms:modified xsi:type="dcterms:W3CDTF">2025-11-17T01:53:58Z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KSOProductBuildVer">
    <vt:lpwstr>2052-3.9.3.6359</vt:lpwstr>
  </property>
</Properties>
</file>